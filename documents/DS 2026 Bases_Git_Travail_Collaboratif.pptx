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315200" y="3703320"/>
            <a:ext cx="1600200" cy="1600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-502920" y="-457200"/>
            <a:ext cx="2011680" cy="2011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160520" y="777240"/>
            <a:ext cx="822960" cy="8229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34" y="892454"/>
            <a:ext cx="592531" cy="59253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bases de la gestion collaborative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projet avec Git</a:t>
            </a:r>
            <a:endParaRPr lang="en-US" sz="3200" dirty="0"/>
          </a:p>
        </p:txBody>
      </p:sp>
      <p:sp>
        <p:nvSpPr>
          <p:cNvPr id="7" name="Text 2"/>
          <p:cNvSpPr/>
          <p:nvPr/>
        </p:nvSpPr>
        <p:spPr>
          <a:xfrm>
            <a:off x="1097280" y="3246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version, GitHub / GitLab et travail d'équipe en data science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09728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— Bonnes pratiques de développement pour la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contrôle de version (VCS)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de version (Version Control System) — aussi appelé contrôle de source — désigne la pratique consistant à suivre et gérer les changements apportés au code d'un logiciel dans le temps.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3200400"/>
            <a:ext cx="3529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pratique est au cœur du mouvement DevOps, qui rapproche développement et exploitation logicielle.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3337560"/>
          </a:xfrm>
          <a:prstGeom prst="roundRect">
            <a:avLst>
              <a:gd name="adj" fmla="val 2740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pratique très répandue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8348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dans la quasi-totalité des équipes informatiques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Indispensable pour le travail en équipe sur un même projet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revenir en arrière et de comprendre l'historique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des workflows collaboratifs modernes (GitHub, GitLab...)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: origines &amp; caractéristiques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en 2005 par Linus Torvalds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est aujourd'hui le VCS le plus utilisé au monde, porté par une très large communauté.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65506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1706270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62763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3504" y="203911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&amp; open source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64408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10712" y="165506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170627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162763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10712" y="203911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distribué (pas de dépôt centralisé)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071616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65506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1706270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162763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17920" y="203911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tous les systèmes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03504" y="320954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3260750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60704" y="318211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03504" y="35935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à de nombreux IDE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64408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410712" y="320954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918" y="3260750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67912" y="318211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3410712" y="35935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riche en fonctionnalités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71616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17920" y="3209544"/>
            <a:ext cx="365760" cy="365760"/>
          </a:xfrm>
          <a:prstGeom prst="ellipse">
            <a:avLst/>
          </a:prstGeom>
          <a:solidFill>
            <a:srgbClr val="57606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126" y="3260750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75120" y="318211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217920" y="35935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 plus lente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&amp; GitLab : plateformes de collaboration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9" y="1442009"/>
            <a:ext cx="362102" cy="362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2011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la plus utilisée : interface graphique pour git et bien plus, pensée pour faciliter la collaboration entre membres d'un projet.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09160" y="114300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FCF0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169" y="1442009"/>
            <a:ext cx="362102" cy="3621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371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</a:t>
            </a:r>
            <a:pPr indent="0" marL="0">
              <a:buNone/>
            </a:pPr>
            <a:r>
              <a:rPr lang="en-US" sz="1200" i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recommandé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37760" y="20116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équivalentes à GitHub, un peu moins populaire mais entièrement open source, avec de meilleures capacités d'intégration et déploiement continus (CI/CD).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9227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794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publics : </a:t>
            </a:r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par tous.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892040" y="3858768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92277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3794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privés : </a:t>
            </a:r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accessibles aux seules personnes invitées.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 un projet : le dépôt local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Lorsqu'on commence un projet, on crée en général un dépôt local sur son ordinateur : il suffit de créer un dossier contenant le code puis de l'initialiser avec git.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266090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66090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66090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2880360"/>
            <a:ext cx="3392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11430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4356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un template : cookiecutter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800600" y="19659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créer un template de projet de qualité professionnelle, on peut utiliser le package spécialisé cookiecutter-data-science.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00600" y="29260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65192" y="307238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8" name="Shape 14"/>
          <p:cNvSpPr/>
          <p:nvPr/>
        </p:nvSpPr>
        <p:spPr>
          <a:xfrm>
            <a:off x="5111496" y="307238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9" name="Shape 15"/>
          <p:cNvSpPr/>
          <p:nvPr/>
        </p:nvSpPr>
        <p:spPr>
          <a:xfrm>
            <a:off x="5257800" y="307238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0" name="Text 16"/>
          <p:cNvSpPr/>
          <p:nvPr/>
        </p:nvSpPr>
        <p:spPr>
          <a:xfrm>
            <a:off x="5020056" y="3291840"/>
            <a:ext cx="3209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cookiecutter-data-science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cccds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crée le template à la racine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workflow de base : status → add → commit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" y="133502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1386230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704" y="13075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git status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3504" y="1719072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fichiers modifiés depuis le dernier suivi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64408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10712" y="133502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138623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912" y="13075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git add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410712" y="1719072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les fichiers que l'on souhaite suivre (add . pour tous)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71616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7920" y="133502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138623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13075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git commit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17920" y="1719072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le changement avec un message explicatif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06324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" y="320954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320954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320954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4" name="Text 18"/>
          <p:cNvSpPr/>
          <p:nvPr/>
        </p:nvSpPr>
        <p:spPr>
          <a:xfrm>
            <a:off x="676656" y="3429000"/>
            <a:ext cx="78272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pour détecter les fichiers qui ont été modifiés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enregistre tous les fichiers modifiés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 décrivant le changement"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distant, premier push &amp; collaborateurs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" y="128930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128930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28930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1508760"/>
            <a:ext cx="42611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crée le dépôt distant sur GitHub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vérifie la connexion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convention: origin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master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pousse le commit local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114300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37160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4356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des collaborateurs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20116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depuis l'interface graphique du dépôt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collaborateur doit accepter l'invitation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mainteneur définit des permissions par utilisateur (lecture, push...)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Rejoindre un projet existant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Cloner le dépôt distant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65506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65506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65506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1874520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Récupérer les derniers changements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316382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316382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316382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" y="3383280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 master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origin/master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master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= fetch + merge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17720" y="1097280"/>
            <a:ext cx="4069080" cy="3337560"/>
          </a:xfrm>
          <a:prstGeom prst="roundRect">
            <a:avLst>
              <a:gd name="adj" fmla="val 2740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le workflow classique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9204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"..."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9204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qu'un dépôt distant évolue, il faut synchroniser régulièrement son dépôt local.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en équipe : diviser pour régner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Paralléliser la chaîne de traitement en travaux indépendants 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5636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1614830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5361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3504" y="19476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Pré-traitement minimal + modèle simple (ex. réponse aléatoire)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64408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10712" y="15636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161483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15361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exploratoire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10712" y="19476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statistiques et graphiques du dataset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071616" y="14173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5636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1614830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15361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Pré-traitement avancé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17920" y="19476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transformation plus poussée des données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03504" y="31638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3215030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60704" y="31363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03504" y="35478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un modèle et mesurer ses performances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64408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410712" y="31638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918" y="3215030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67912" y="31363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3410712" y="35478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et création de features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71616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17920" y="316382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126" y="3215030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75120" y="313639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217920" y="354787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l'environnement de production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le travail : outils &amp; environnements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Découper chaque job en tâches élémentaires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pour la baseline : une seule personne par tâche, pour maximiser la distribution du travail.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dataset dans une structure de données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des indicateurs statistiques univariés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graphiques adaptés pour visualiser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14300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4024" y="128930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134051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1261872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outil de gestion de tâches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64024" y="1673352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Trello, en s'inspirant des méthodes agile et scrum pour matérialiser et suivre les tâches de l'équipe.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288036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64024" y="302666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30" y="307787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2999232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environnement virtuel par projet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764024" y="3410712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le code du projet et n'y inclure que les librairies nécessaires à son fonctionnement.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tâche = une branche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les tâches réparties, chaque développeur crée une branche dédiée pour développer le code de sa tâche en cours.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2331720"/>
            <a:ext cx="411480" cy="41148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" y="2389327"/>
            <a:ext cx="296266" cy="296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d'or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8368" y="28346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branche principale (master) ne doit contenir que du code testé et fonctionnel. On n'y pousse jamais de changement avant qu'il ait été vérifié.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846320" y="2926080"/>
            <a:ext cx="3749040" cy="0"/>
          </a:xfrm>
          <a:prstGeom prst="line">
            <a:avLst/>
          </a:prstGeom>
          <a:noFill/>
          <a:ln w="31750">
            <a:solidFill>
              <a:srgbClr val="24292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0060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60720" y="1783080"/>
            <a:ext cx="1645920" cy="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0" y="1783080"/>
            <a:ext cx="0" cy="114300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0" y="1783080"/>
            <a:ext cx="0" cy="114300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1500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ma-tache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37176" y="2871216"/>
            <a:ext cx="109728" cy="109728"/>
          </a:xfrm>
          <a:prstGeom prst="ellipse">
            <a:avLst/>
          </a:prstGeom>
          <a:solidFill>
            <a:srgbClr val="24292E"/>
          </a:solidFill>
          <a:ln/>
        </p:spPr>
      </p:sp>
      <p:sp>
        <p:nvSpPr>
          <p:cNvPr id="18" name="Shape 14"/>
          <p:cNvSpPr/>
          <p:nvPr/>
        </p:nvSpPr>
        <p:spPr>
          <a:xfrm>
            <a:off x="5705856" y="2871216"/>
            <a:ext cx="109728" cy="109728"/>
          </a:xfrm>
          <a:prstGeom prst="ellipse">
            <a:avLst/>
          </a:prstGeom>
          <a:solidFill>
            <a:srgbClr val="24292E"/>
          </a:solidFill>
          <a:ln/>
        </p:spPr>
      </p:sp>
      <p:sp>
        <p:nvSpPr>
          <p:cNvPr id="19" name="Shape 15"/>
          <p:cNvSpPr/>
          <p:nvPr/>
        </p:nvSpPr>
        <p:spPr>
          <a:xfrm>
            <a:off x="7351776" y="2871216"/>
            <a:ext cx="109728" cy="109728"/>
          </a:xfrm>
          <a:prstGeom prst="ellipse">
            <a:avLst/>
          </a:prstGeom>
          <a:solidFill>
            <a:srgbClr val="24292E"/>
          </a:solidFill>
          <a:ln/>
        </p:spPr>
      </p:sp>
      <p:sp>
        <p:nvSpPr>
          <p:cNvPr id="20" name="Shape 16"/>
          <p:cNvSpPr/>
          <p:nvPr/>
        </p:nvSpPr>
        <p:spPr>
          <a:xfrm>
            <a:off x="8494776" y="2871216"/>
            <a:ext cx="109728" cy="109728"/>
          </a:xfrm>
          <a:prstGeom prst="ellipse">
            <a:avLst/>
          </a:prstGeom>
          <a:solidFill>
            <a:srgbClr val="24292E"/>
          </a:solidFill>
          <a:ln/>
        </p:spPr>
      </p:sp>
      <p:sp>
        <p:nvSpPr>
          <p:cNvPr id="21" name="Shape 17"/>
          <p:cNvSpPr/>
          <p:nvPr/>
        </p:nvSpPr>
        <p:spPr>
          <a:xfrm>
            <a:off x="5705856" y="172821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2" name="Shape 18"/>
          <p:cNvSpPr/>
          <p:nvPr/>
        </p:nvSpPr>
        <p:spPr>
          <a:xfrm>
            <a:off x="7351776" y="172821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3" name="Shape 19"/>
          <p:cNvSpPr/>
          <p:nvPr/>
        </p:nvSpPr>
        <p:spPr>
          <a:xfrm>
            <a:off x="5705856" y="287121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4" name="Shape 20"/>
          <p:cNvSpPr/>
          <p:nvPr/>
        </p:nvSpPr>
        <p:spPr>
          <a:xfrm>
            <a:off x="7351776" y="287121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1"/>
          <p:cNvSpPr/>
          <p:nvPr/>
        </p:nvSpPr>
        <p:spPr>
          <a:xfrm>
            <a:off x="484632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vit dans sa propre branche, isolée de master jusqu'à validation.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Pull Request : demander une revue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code de la tâche terminé, le développeur demande à un mainteneur d'évaluer son code avant de l'intégrer à la branche principale.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projets open source fonctionnent ainsi : on développe localement, puis on « discute » avec les mainteneurs via une pull request avant fusion.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17720" y="1097280"/>
            <a:ext cx="4069080" cy="3337560"/>
          </a:xfrm>
          <a:prstGeom prst="roundRect">
            <a:avLst>
              <a:gd name="adj" fmla="val 274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pull request peut contenir 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17373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titre et une description de ce qui a été fait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sollicitations d'un utilisateur (ex. @heryson)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tags pour catégoriser la demande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46320" y="32004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24292E"/>
          </a:solidFill>
          <a:ln/>
        </p:spPr>
      </p:sp>
      <p:sp>
        <p:nvSpPr>
          <p:cNvPr id="11" name="Shape 8"/>
          <p:cNvSpPr/>
          <p:nvPr/>
        </p:nvSpPr>
        <p:spPr>
          <a:xfrm>
            <a:off x="5010912" y="334670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118" y="3397910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mainteneur et le développeur échangent des messages jusqu'à obtenir la version définitive.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Fusionner, nettoyer &amp; itérer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" y="128930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1340510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704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3504" y="167335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acceptée, la pull request est fusionnée à la branche principale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64408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10712" y="128930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134051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912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410712" y="167335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étant conservé sur master, la branche de tâche peut être supprimée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71616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7920" y="1289304"/>
            <a:ext cx="365760" cy="36576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134051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Itération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17920" y="167335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reprend pour la tâche suivante, en se resynchronisant avec master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278892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" y="293522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293522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4" name="Text 18"/>
          <p:cNvSpPr/>
          <p:nvPr/>
        </p:nvSpPr>
        <p:spPr>
          <a:xfrm>
            <a:off x="676656" y="3154680"/>
            <a:ext cx="7827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master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master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récupérer les derniers changements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ma-tache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master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intégrer master dans la branche de la tâche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un conflit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plusieurs développeurs modifient les mêmes lignes d'un fichier en même temps, git détecte un conflit lors de la fusion : la pull request est bloquée tant qu'il n'est pas résolu.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B1F2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2112264"/>
            <a:ext cx="91440" cy="91440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112264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112264"/>
            <a:ext cx="91440" cy="9144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2331720"/>
            <a:ext cx="45354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master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master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ma-branche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master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conflit signalé ici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après résolution manuelle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--no-edit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ma-branche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196596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résoudre 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06440" y="2514600"/>
            <a:ext cx="2651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fichier en conflit, repérer les chevrons &lt;&lt;&lt;&lt; / &gt;&gt;&gt;&gt;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les changements pertinents à conserver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utiliser l'interface graphique de GitHub (souvent plus lisible)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417881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particuliers en data science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" y="1289304"/>
            <a:ext cx="365760" cy="365760"/>
          </a:xfrm>
          <a:prstGeom prst="ellipse">
            <a:avLst/>
          </a:prstGeom>
          <a:solidFill>
            <a:srgbClr val="0969D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1340510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704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Jupyter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3504" y="1673352"/>
            <a:ext cx="23134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 difficile à différencier sur GitHub. Solutions : un notebook par développeur (suffixe nominatif), ou l'outil nbdime pour visualiser les différences.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64408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10712" y="1289304"/>
            <a:ext cx="365760" cy="3657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134051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912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 datasets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410712" y="1673352"/>
            <a:ext cx="23134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limite les fichiers versionnés à 100 Mo. Il faut ajouter les gros fichiers au .gitignore pour éviter de les suivre avec git.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71616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7920" y="1289304"/>
            <a:ext cx="365760" cy="36576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134051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1261872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d'identification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17920" y="1673352"/>
            <a:ext cx="23134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écrire une clé API en dur dans le code. Utiliser le package python-dotenv avec un fichier .env, lui-même ajouté au .gitignore.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223760" y="-365760"/>
            <a:ext cx="210312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02920"/>
            <a:ext cx="548640" cy="5486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10" y="579730"/>
            <a:ext cx="395021" cy="3950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457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permet de suivre l'historique du code et de collaborer efficacement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hébergent les dépôts distants et facilitent le travail d'équipe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status → add → commit → push est la base du workflow quotidien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tâche = 1 branche, validée par pull request avant fusion sur master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B1F23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3547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38587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— Tutoriel Git : atlassian.com/git/tutorials/setting-up-a-repository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— Qu'est-ce que le contrôle de version : atlassian.com/fr/git/tutorials/what-is-version-control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— Qu'est-ce que Git : atlassian.com/fr/git/tutorials/what-is-git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Git : git-scm.com/doc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496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bases de la gestion collaborative de projet avec Git</dc:title>
  <dc:subject>PptxGenJS Presentation</dc:subject>
  <dc:creator>Fondamentaux du Data Scientist</dc:creator>
  <cp:lastModifiedBy>Fondamentaux du Data Scientist</cp:lastModifiedBy>
  <cp:revision>1</cp:revision>
  <dcterms:created xsi:type="dcterms:W3CDTF">2026-07-05T08:39:15Z</dcterms:created>
  <dcterms:modified xsi:type="dcterms:W3CDTF">2026-07-05T08:39:15Z</dcterms:modified>
</cp:coreProperties>
</file>
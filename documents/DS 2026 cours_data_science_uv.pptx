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4" r:id="rId34"/>
    <p:sldId id="295" r:id="rId35"/>
    <p:sldId id="296" r:id="rId36"/>
    <p:sldId id="297" r:id="rId37"/>
    <p:sldId id="271" r:id="rId17"/>
    <p:sldId id="272" r:id="rId18"/>
    <p:sldId id="291" r:id="rId32"/>
    <p:sldId id="273" r:id="rId19"/>
    <p:sldId id="274" r:id="rId20"/>
    <p:sldId id="292" r:id="rId33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a ete cree par Linus Torvalds (createur de Linux) en avril 2005. Contexte : l'equipe du noyau Linux utilisait BitKeeper, un outil proprietaire gratuit pour eux ; la licence gratuite a ete retiree apres qu'un developpeur a tente de reverse-engineer l'outil. Torvalds avait besoin d'un systeme rapide et distribue ; aucun outil libre existant ne convenait. Il l'a ecrit en ~10 jours. Le nom 'git' est de l'argot britannique pour une personne desagreable, choisi par autoderision. Maintenance passee a Junio Hamano des l'ete 2005. Premiere version 1.0 en decembre 2005.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est la technologie de versionnement ; GitHub et GitLab sont deux plateformes qui hebergent des depots Git. GitHub : lance en 2008, rachete par Microsoft en 2018, plus grande communaute, reference open source, CI/CD via Actions. GitLab : lance en 2011, open core, plateforme DevOps tout-en-un avec CI/CD natif des l'origine, auto-hebergeable gratuitement. Point cle pour les debutants : les commandes Git sont rigoureusement les memes sur les deux ; seule l'URL distante (origin)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 collaboratif en binome (~1h30). Roles : A = pilote (cree le projet, l'heberge, invite B) ; B = copilote (clone, reconstruit l'environnement via requirements.txt, collabore). Les 6 etapes sont detaillees dans la fiche TP etudiant. Synchroniser le passage a l'etape 5 pour toute la salle. L'etape 6 (conflit) est un bonus : provoquer volontairement un conflit sur la meme ligne du README et le resoudre dans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· 4 HEURES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bases des bonnes pratiques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Data Science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· VS Code · Terminal · Environnements virtuels Python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501091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4892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son code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43400" y="4892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501091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4892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 terminal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863840" y="4892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50109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4892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ses projets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Programme de la journée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modules · environ 1 heure chacun, pratique comprise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562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751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46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1984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&amp; GitHub : l'essentiel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52360" y="17465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versionner, créer un dépôt, commits, push/pull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807208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1821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691640" y="31912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 depuis VS Code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452360" y="295351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Cloner, committer, pousser sans quitter l'éditeur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" y="4014216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70248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8912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691640" y="43982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en ligne de commande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452360" y="4160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de base à connaître par cœur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66928" y="5221224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477256"/>
            <a:ext cx="548640" cy="54864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59612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367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691640" y="56052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Environnements virtuels Python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452360" y="53675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pyproject.toml et reproductibilité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Pourquoi ces bonnes pratiques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737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92808" y="18013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 plus rien perdre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32688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version de votre code est sauvegardée. Fini les fichiers analyse_final_v3_VRAI.py.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17373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18013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Travailler à plusieurs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72084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permet de partager, fusionner et relire le code d'une équipe sans s'écraser.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6928" y="397764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86968" y="4297680"/>
            <a:ext cx="777240" cy="7772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4805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92808" y="43616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Reproductibilité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932688" y="5212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isolé garantit que votre code tourne pareil chez vous et chez les autres.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55080" y="3977640"/>
            <a:ext cx="5239512" cy="2331720"/>
          </a:xfrm>
          <a:prstGeom prst="roundRect">
            <a:avLst>
              <a:gd name="adj" fmla="val 3922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75120" y="4297680"/>
            <a:ext cx="777240" cy="77724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4805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43616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Gagner en crédibilité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6720840" y="5212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dépôt propre et un pyproject.toml sont la norme attendue en data science.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21C0A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7889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&amp; GitHub : l'essentiel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versionnement avant de toucher au clavier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418320" y="429768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736592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1.0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D'où vient Git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5532120" cy="4343400"/>
          </a:xfrm>
          <a:prstGeom prst="roundRect">
            <a:avLst>
              <a:gd name="adj" fmla="val 2105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642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2880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099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L'inventeur &amp; le contexte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par Linus Torvalds en 2005, le créateur du noyau Linux.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en environ 10 jours seulement, pour gérer le développement du noyau Linux.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confiée dès l'été 2005 à Junio Hamano, qui le pilote encore.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45720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DCEAF2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464515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 nom ?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git » est un mot d'argot britannique pour une personne désagréable. Torvalds l'a choisi avec autodérision, le décrivant comme « le suivi de contenu stupide ».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371600"/>
            <a:ext cx="5303520" cy="4343400"/>
          </a:xfrm>
          <a:prstGeom prst="roundRect">
            <a:avLst>
              <a:gd name="adj" fmla="val 2105"/>
            </a:avLst>
          </a:prstGeom>
          <a:solidFill>
            <a:srgbClr val="0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1664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Pourquoi l'avoir créé ?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583680" y="2240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7744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203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Une rupture forcée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269480" y="25694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Linux utilisait BitKeeper (outil propriétaire, gratuit pour eux). En 2005, sa licence gratuite est révoquée après un conflit.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83680" y="33832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5204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3346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Besoin de vitesse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269480" y="37124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libre (CVS, SVN) n'était assez rapide pour des milliers de contributeurs et des centaines de patchs.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583680" y="4526280"/>
            <a:ext cx="566928" cy="566928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6634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89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modèle distribué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9480" y="485546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machine devait posséder l'historique complet et fonctionner sans serveur central, ni connexion permanente.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1.1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n'est pas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105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logiciel installé sur votre machine.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l'historique de vos fichiers.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100% en local, sans Internet.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36208" y="137160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45920"/>
            <a:ext cx="731520" cy="73152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8105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355080" y="26060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web qui héberge vos dépôts Git.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dans le cloud + partage.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: issues, pull requests.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66928" y="4343400"/>
            <a:ext cx="11018520" cy="1325880"/>
          </a:xfrm>
          <a:prstGeom prst="roundRect">
            <a:avLst>
              <a:gd name="adj" fmla="val 6897"/>
            </a:avLst>
          </a:prstGeom>
          <a:solidFill>
            <a:srgbClr val="0B2A4A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690872"/>
            <a:ext cx="640080" cy="64008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83717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48056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L'analogie :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c'est l'historique de votre document (les modifications enregistrées). GitHub, c'est le Google Drive où vous le stockez et le partagez.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1.2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cycle d'un changement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zones que Git distingue, et comment passer de l'une à l'autre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402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4505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Working dir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fichiers modifiés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542032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84448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4548" y="22402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0" y="2450592"/>
            <a:ext cx="493776" cy="4937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75888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675888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sélectionnés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2542032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83096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283196" y="2240280"/>
            <a:ext cx="914400" cy="91440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508" y="2450592"/>
            <a:ext cx="493776" cy="4937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74536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Commit local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6574536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enregistrée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3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2542032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381744" y="19202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181844" y="2240280"/>
            <a:ext cx="914400" cy="91440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2156" y="2450592"/>
            <a:ext cx="493776" cy="4937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473184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9473184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Sauvegardé en ligne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566928" y="4892040"/>
            <a:ext cx="11018520" cy="868680"/>
          </a:xfrm>
          <a:prstGeom prst="roundRect">
            <a:avLst>
              <a:gd name="adj" fmla="val 8421"/>
            </a:avLst>
          </a:prstGeom>
          <a:solidFill>
            <a:srgbClr val="DCEAF2"/>
          </a:solidFill>
          <a:ln/>
        </p:spPr>
      </p:sp>
      <p:sp>
        <p:nvSpPr>
          <p:cNvPr id="28" name="Text 19"/>
          <p:cNvSpPr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À retenir : </a:t>
            </a:r>
            <a:pPr indent="0" marL="0">
              <a:buNone/>
            </a:pPr>
            <a:r>
              <a:rPr lang="en-US" sz="150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pousse jamais directement. On ajoute (add), puis on enregistre (commit), puis on envoie (push).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1.3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 n'est pas seul : GitLab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est la technologie ; plusieurs plateformes l'hébergent. GitHub est la plus connue, GitLab en est la grande alternative.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305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 en 2008, racheté par Microsoft en 2018.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plus grande communauté : référence de l'open source.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immense marketplace d'intégrations.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via GitHub Actions.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36208" y="169164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731520" cy="731520"/>
          </a:xfrm>
          <a:prstGeom prst="ellipse">
            <a:avLst/>
          </a:prstGeom>
          <a:solidFill>
            <a:srgbClr val="E2522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1305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GitLab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6355080" y="28803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 en 2011, en logiciel libre (open core).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DevOps « tout-en-un » intégrée.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requests + CI/CD natif dès l'origine.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Auto-hébergeable gratuitement sur vos serveurs.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4663440"/>
            <a:ext cx="11018520" cy="1188720"/>
          </a:xfrm>
          <a:prstGeom prst="roundRect">
            <a:avLst>
              <a:gd name="adj" fmla="val 7692"/>
            </a:avLst>
          </a:prstGeom>
          <a:solidFill>
            <a:srgbClr val="0B2A4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983480"/>
            <a:ext cx="566928" cy="566928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51114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54880"/>
            <a:ext cx="9646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Bonne nouvelle 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Git que vous apprenez (clone, add, commit, push, pull) sont identiques sur GitHub et GitLab. Changer de plateforme ne change pas votre façon de travailler — seule l'URL du dépôt diffère.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7889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GitHub depuis VS Code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sans jamais quitter votre éditeur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418320" y="4297680"/>
            <a:ext cx="1463040" cy="146304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736592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2.1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Préparer VS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63040"/>
            <a:ext cx="11018520" cy="978408"/>
          </a:xfrm>
          <a:prstGeom prst="roundRect">
            <a:avLst>
              <a:gd name="adj" fmla="val 7477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64208"/>
            <a:ext cx="566928" cy="566928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922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727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Installer Git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0" y="15727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Git sur git-scm.com. VS Code l'utilise en arrière-plan.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578608"/>
            <a:ext cx="11018520" cy="978408"/>
          </a:xfrm>
          <a:prstGeom prst="roundRect">
            <a:avLst>
              <a:gd name="adj" fmla="val 7477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779776"/>
            <a:ext cx="566928" cy="566928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277977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9077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68833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Ouvrir le dossier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0" y="268833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▸ Open Folder : ouvrez le dossier de votre projet, pas un seul fichier.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694176"/>
            <a:ext cx="11018520" cy="978408"/>
          </a:xfrm>
          <a:prstGeom prst="roundRect">
            <a:avLst>
              <a:gd name="adj" fmla="val 7477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77240" y="3895344"/>
            <a:ext cx="566928" cy="566928"/>
          </a:xfrm>
          <a:prstGeom prst="rect">
            <a:avLst/>
          </a:prstGeom>
          <a:solidFill>
            <a:srgbClr val="0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777240" y="3895344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0233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039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Panneau Source Control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029200" y="38039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L'icône des branches dans la barre latérale (Ctrl+Shift+G) : votre tableau de bord Git.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66928" y="4809744"/>
            <a:ext cx="11018520" cy="978408"/>
          </a:xfrm>
          <a:prstGeom prst="roundRect">
            <a:avLst>
              <a:gd name="adj" fmla="val 7477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77240" y="5010912"/>
            <a:ext cx="566928" cy="566928"/>
          </a:xfrm>
          <a:prstGeom prst="rect">
            <a:avLst/>
          </a:prstGeom>
          <a:solidFill>
            <a:srgbClr val="21C0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777240" y="5010912"/>
            <a:ext cx="566928" cy="566928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13892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9194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connecter à GitHub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5029200" y="49194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le compte en bas à gauche ▸ se connecter avec GitHub pour pousser.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2.2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flux quotidien dans VS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Modifier un fichier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105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changés apparaissent en jaune (M) dans Source Control.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Stager (+)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Survolez le fichier et cliquez sur + pour l'ajouter au commit.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236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Écrire un message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84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le changement dans la zone de texte en haut.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123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714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✓ Commit pour enregistrer la version localement.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010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Sync / Push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3583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Sync Changes pour envoyer vers GitHub.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1417320"/>
            <a:ext cx="4846320" cy="4297680"/>
          </a:xfrm>
          <a:prstGeom prst="roundRect">
            <a:avLst>
              <a:gd name="adj" fmla="val 1277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951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95160" y="2011680"/>
            <a:ext cx="4297680" cy="502920"/>
          </a:xfrm>
          <a:prstGeom prst="roundRect">
            <a:avLst>
              <a:gd name="adj" fmla="val 9091"/>
            </a:avLst>
          </a:prstGeom>
          <a:solidFill>
            <a:srgbClr val="1B3A5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(Ctrl+Enter pour commit)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95160" y="2651760"/>
            <a:ext cx="4297680" cy="457200"/>
          </a:xfrm>
          <a:prstGeom prst="roundRect">
            <a:avLst>
              <a:gd name="adj" fmla="val 10000"/>
            </a:avLst>
          </a:prstGeom>
          <a:solidFill>
            <a:srgbClr val="21C0A8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analyse.py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27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data_clean.py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27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notes.md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2708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995160" y="5120640"/>
            <a:ext cx="4297680" cy="457200"/>
          </a:xfrm>
          <a:prstGeom prst="roundRect">
            <a:avLst>
              <a:gd name="adj" fmla="val 10000"/>
            </a:avLst>
          </a:prstGeom>
          <a:solidFill>
            <a:srgbClr val="1B3A55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5120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Sync Changes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21C0A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7889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en ligne de commande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de base à connaître par cœur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418320" y="429768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736592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3.1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Démarrer un projet en terminal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Configuration (une seule fois)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2996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 êtes-vous ? (apparaît dans les commits)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"Prénom Nom"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"vous@mail.com"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Récupérer un projet existant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5976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2996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Copier un dépôt GitHub en local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https://github.com/user/projet.git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Créer un dépôt depuis un dossier existant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069080"/>
            <a:ext cx="11018520" cy="1783080"/>
          </a:xfrm>
          <a:prstGeom prst="roundRect">
            <a:avLst>
              <a:gd name="adj" fmla="val 3077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215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" y="4215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" y="4215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53128"/>
            <a:ext cx="10561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mon_projet            # se placer dans le dossier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# créer le dépôt Git local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https://github.com/user/projet.git   # lier à GitHub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3.2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commandes du quotidien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5239512" cy="1234440"/>
          </a:xfrm>
          <a:prstGeom prst="roundRect">
            <a:avLst>
              <a:gd name="adj" fmla="val 592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0992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56232"/>
            <a:ext cx="347472" cy="347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64208" y="1645920"/>
            <a:ext cx="3867912" cy="457200"/>
          </a:xfrm>
          <a:prstGeom prst="roundRect">
            <a:avLst>
              <a:gd name="adj" fmla="val 10000"/>
            </a:avLst>
          </a:prstGeom>
          <a:solidFill>
            <a:srgbClr val="0E2236"/>
          </a:solidFill>
          <a:ln/>
        </p:spPr>
      </p:sp>
      <p:sp>
        <p:nvSpPr>
          <p:cNvPr id="7" name="Text 4"/>
          <p:cNvSpPr/>
          <p:nvPr/>
        </p:nvSpPr>
        <p:spPr>
          <a:xfrm>
            <a:off x="1801368" y="16459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64208" y="214884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fichiers modifiés / en attente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39512" cy="1234440"/>
          </a:xfrm>
          <a:prstGeom prst="roundRect">
            <a:avLst>
              <a:gd name="adj" fmla="val 592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170992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856232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52360" y="1645920"/>
            <a:ext cx="3867912" cy="457200"/>
          </a:xfrm>
          <a:prstGeom prst="roundRect">
            <a:avLst>
              <a:gd name="adj" fmla="val 10000"/>
            </a:avLst>
          </a:prstGeom>
          <a:solidFill>
            <a:srgbClr val="0E2236"/>
          </a:solidFill>
          <a:ln/>
        </p:spPr>
      </p:sp>
      <p:sp>
        <p:nvSpPr>
          <p:cNvPr id="13" name="Text 9"/>
          <p:cNvSpPr/>
          <p:nvPr/>
        </p:nvSpPr>
        <p:spPr>
          <a:xfrm>
            <a:off x="7589520" y="16459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fichier.py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452360" y="214884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Stager un fichier (ou git add . pour tout)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2834640"/>
            <a:ext cx="5239512" cy="1234440"/>
          </a:xfrm>
          <a:prstGeom prst="roundRect">
            <a:avLst>
              <a:gd name="adj" fmla="val 592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127248"/>
            <a:ext cx="640080" cy="64008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273552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664208" y="3063240"/>
            <a:ext cx="3867912" cy="457200"/>
          </a:xfrm>
          <a:prstGeom prst="roundRect">
            <a:avLst>
              <a:gd name="adj" fmla="val 10000"/>
            </a:avLst>
          </a:prstGeom>
          <a:solidFill>
            <a:srgbClr val="0E2236"/>
          </a:solidFill>
          <a:ln/>
        </p:spPr>
      </p:sp>
      <p:sp>
        <p:nvSpPr>
          <p:cNvPr id="19" name="Text 14"/>
          <p:cNvSpPr/>
          <p:nvPr/>
        </p:nvSpPr>
        <p:spPr>
          <a:xfrm>
            <a:off x="1801368" y="30632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664208" y="356616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une version avec un message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355080" y="2834640"/>
            <a:ext cx="5239512" cy="1234440"/>
          </a:xfrm>
          <a:prstGeom prst="roundRect">
            <a:avLst>
              <a:gd name="adj" fmla="val 592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11112" y="3127248"/>
            <a:ext cx="640080" cy="64008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3273552"/>
            <a:ext cx="347472" cy="34747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452360" y="3063240"/>
            <a:ext cx="3867912" cy="457200"/>
          </a:xfrm>
          <a:prstGeom prst="roundRect">
            <a:avLst>
              <a:gd name="adj" fmla="val 10000"/>
            </a:avLst>
          </a:prstGeom>
          <a:solidFill>
            <a:srgbClr val="0E2236"/>
          </a:solidFill>
          <a:ln/>
        </p:spPr>
      </p:sp>
      <p:sp>
        <p:nvSpPr>
          <p:cNvPr id="25" name="Text 19"/>
          <p:cNvSpPr/>
          <p:nvPr/>
        </p:nvSpPr>
        <p:spPr>
          <a:xfrm>
            <a:off x="7589520" y="30632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452360" y="356616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les commits vers GitHub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66928" y="4251960"/>
            <a:ext cx="5239512" cy="1234440"/>
          </a:xfrm>
          <a:prstGeom prst="roundRect">
            <a:avLst>
              <a:gd name="adj" fmla="val 592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22960" y="45445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690872"/>
            <a:ext cx="347472" cy="347472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664208" y="4480560"/>
            <a:ext cx="3867912" cy="457200"/>
          </a:xfrm>
          <a:prstGeom prst="roundRect">
            <a:avLst>
              <a:gd name="adj" fmla="val 10000"/>
            </a:avLst>
          </a:prstGeom>
          <a:solidFill>
            <a:srgbClr val="0E2236"/>
          </a:solidFill>
          <a:ln/>
        </p:spPr>
      </p:sp>
      <p:sp>
        <p:nvSpPr>
          <p:cNvPr id="31" name="Text 24"/>
          <p:cNvSpPr/>
          <p:nvPr/>
        </p:nvSpPr>
        <p:spPr>
          <a:xfrm>
            <a:off x="1801368" y="44805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1664208" y="498348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les changements des autres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6355080" y="4251960"/>
            <a:ext cx="5239512" cy="1234440"/>
          </a:xfrm>
          <a:prstGeom prst="roundRect">
            <a:avLst>
              <a:gd name="adj" fmla="val 592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611112" y="454456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690872"/>
            <a:ext cx="347472" cy="34747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7452360" y="4480560"/>
            <a:ext cx="3867912" cy="457200"/>
          </a:xfrm>
          <a:prstGeom prst="roundRect">
            <a:avLst>
              <a:gd name="adj" fmla="val 10000"/>
            </a:avLst>
          </a:prstGeom>
          <a:solidFill>
            <a:srgbClr val="0E2236"/>
          </a:solidFill>
          <a:ln/>
        </p:spPr>
      </p:sp>
      <p:sp>
        <p:nvSpPr>
          <p:cNvPr id="37" name="Text 29"/>
          <p:cNvSpPr/>
          <p:nvPr/>
        </p:nvSpPr>
        <p:spPr>
          <a:xfrm>
            <a:off x="7589520" y="44805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7452360" y="498348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l'historique des commits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3.3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Une session type &amp; le .gitignore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L'enchaînement classique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29968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                # récupérer les MAJ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je travaille sur mon code ...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# vérifier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analyse.py        # stager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"Ajout du nettoyage"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                 # publier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fichier .gitignore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5727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ce que Git doit ignorer : essentiel en data science pour ne pas pousser les données lourdes ni l'environnement.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423160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48272" y="25694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94576" y="25694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25694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807208"/>
            <a:ext cx="4526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Environnement virtuel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Données &amp; caches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*.csv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DCEAF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Astuce : </a:t>
            </a:r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le .gitignore AVANT le premier commit, pour éviter de versionner par erreur des fichiers volumineux.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21C0A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7889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Environnements virtuels Python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ses projets avec uv et garantir la reproductibilité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418320" y="429768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736592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4.1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Pourquoi un environnement virtuel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BEFE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Sans environnement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librairies sont installées globalement.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A veut pandas 1.5, le projet B veut pandas 2.2 : conflit.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ce dont un projet a vraiment besoin.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Ça marche chez moi » mais pas chez les autres.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36208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AF7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8F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Avec un environnement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projet a ses propres librairies, dans son dossier.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conflit de versions entre projets.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exacte des dépendances est connue.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qui peut recréer le même environnement.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4.3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Initialiser un projet avec uv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· Initialiser le projet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18520" cy="914400"/>
          </a:xfrm>
          <a:prstGeom prst="roundRect">
            <a:avLst>
              <a:gd name="adj" fmla="val 6000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739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7739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1168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--app --python 3.12 mon_projet   # crée le projet ET le dépôt Git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· Ajouter une dépendance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3182112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2841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332841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332841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5661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 ET fige la version en une commande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pandas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182112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332841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7376" y="332841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332841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5661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 automatique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 créé + uv.lock mis à jour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892040"/>
            <a:ext cx="11018520" cy="868680"/>
          </a:xfrm>
          <a:prstGeom prst="roundRect">
            <a:avLst>
              <a:gd name="adj" fmla="val 8421"/>
            </a:avLst>
          </a:prstGeom>
          <a:solidFill>
            <a:srgbClr val="DCEAF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Pas d'activation nécessaire.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Contrairement à venv, uv run et uv sync utilisent automatiquement le bon environnement. Inutile de taper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ou de vous en souvenir.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4.4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Ajouter plusieurs dépendances avec uv add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Installer plusieurs librairies d'un coup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18520" cy="1417320"/>
          </a:xfrm>
          <a:prstGeom prst="roundRect">
            <a:avLst>
              <a:gd name="adj" fmla="val 3871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739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7739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1168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pandas numpy scikit-learn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--dev pytest ruff   # dépendances de développement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Régénérer le lock après une modification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3685032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8313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38313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38313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069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lock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120640" cy="2240280"/>
          </a:xfrm>
          <a:prstGeom prst="roundRect">
            <a:avLst>
              <a:gd name="adj" fmla="val 2449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37947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[project]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= [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"pandas", "numpy", "scikit-learn"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48006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À retenir 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met à jour pyproject.toml (dépendances) ET uv.lock (versions exactes, hachages). Les deux fichiers se versionnent sur GitHub.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4.6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Recréer un environnement avec uv sync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scénario : vous clonez un projet (ou un collègue récupère le vôtre). Il faut retrouver exactement les mêmes librairies.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5989320" cy="731520"/>
          </a:xfrm>
          <a:prstGeom prst="roundRect">
            <a:avLst>
              <a:gd name="adj" fmla="val 6250"/>
            </a:avLst>
          </a:prstGeom>
          <a:solidFill>
            <a:srgbClr val="0E2236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828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 &amp;&amp; cd projet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38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projet et ses fichiers, dont uv.lock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761488"/>
            <a:ext cx="5989320" cy="731520"/>
          </a:xfrm>
          <a:prstGeom prst="roundRect">
            <a:avLst>
              <a:gd name="adj" fmla="val 6250"/>
            </a:avLst>
          </a:prstGeom>
          <a:solidFill>
            <a:srgbClr val="0E2236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76148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43800" y="27614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Recrée .venv et installe exactement les mêmes versions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548640" cy="548640"/>
          </a:xfrm>
          <a:prstGeom prst="ellipse">
            <a:avLst/>
          </a:prstGeom>
          <a:solidFill>
            <a:srgbClr val="21C0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71600" y="3694176"/>
            <a:ext cx="5989320" cy="731520"/>
          </a:xfrm>
          <a:prstGeom prst="roundRect">
            <a:avLst>
              <a:gd name="adj" fmla="val 6250"/>
            </a:avLst>
          </a:prstGeom>
          <a:solidFill>
            <a:srgbClr val="0E2236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69417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scripts/analyse.py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3800" y="369417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script tourne, avec le même résultat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690872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21C0A8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C'est tout l'intérêt : </a:t>
            </a:r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 commandes (clone + uv sync), n'importe qui retrouve votre environnement à l'identique. Voilà la reproductibilité.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flux complet d'un projet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zéro au projet partagé et reproductible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21945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3957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" y="32004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Créer le projet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6656" y="3657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init (dossier + git + .gitignore)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34640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3957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7180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44368" y="32004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Environnement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944368" y="3657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pandas (env + version figée)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102352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42432" y="2194560"/>
            <a:ext cx="822960" cy="82296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39572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9512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12080" y="32004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Vérifier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212080" y="3657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mon_script.py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70064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10144" y="21945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395728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07224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479792" y="32004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Versionner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479792" y="3657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/ commit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637776" y="192024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77856" y="2194560"/>
            <a:ext cx="822960" cy="82296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024" y="2395728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74936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747504" y="32004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Publier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9747504" y="365760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vers GitHub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66928" y="4983480"/>
            <a:ext cx="11018520" cy="868680"/>
          </a:xfrm>
          <a:prstGeom prst="roundRect">
            <a:avLst>
              <a:gd name="adj" fmla="val 8421"/>
            </a:avLst>
          </a:prstGeom>
          <a:solidFill>
            <a:srgbClr val="0B2A4A"/>
          </a:solidFill>
          <a:ln/>
        </p:spPr>
      </p:sp>
      <p:sp>
        <p:nvSpPr>
          <p:cNvPr id="35" name="Text 28"/>
          <p:cNvSpPr/>
          <p:nvPr/>
        </p:nvSpPr>
        <p:spPr>
          <a:xfrm>
            <a:off x="868680" y="50749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 quotidien ensuite :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→ coder → git add → git commit → git push. Et on répète.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Échauffement individuel (avant le TP)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67665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DCEA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499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3716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Initialisez le projet avec uv init --app --python 3.12 projet-data.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76272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F2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3042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2176272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que git init, .gitignore, pyproject.toml et .python-version ont bien été créés.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2980944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DCEAF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298094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pandas avec uv add pandas (crée .venv et l'installe, sans activation).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66928" y="3785616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F2F8FB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913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378561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que uv.lock a bien été créé et mis à jour automatiquement.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66928" y="4590288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DCEAF2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47183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417320" y="459028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 dépôt vide sur GitHub, liez-le (git remote add origin ...).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66928" y="5394960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F2F8FB"/>
          </a:solidFill>
          <a:ln/>
        </p:spPr>
      </p:sp>
      <p:sp>
        <p:nvSpPr>
          <p:cNvPr id="26" name="Shape 23"/>
          <p:cNvSpPr/>
          <p:nvPr/>
        </p:nvSpPr>
        <p:spPr>
          <a:xfrm>
            <a:off x="777240" y="5522976"/>
            <a:ext cx="457200" cy="457200"/>
          </a:xfrm>
          <a:prstGeom prst="ellipse">
            <a:avLst/>
          </a:prstGeom>
          <a:solidFill>
            <a:srgbClr val="21C0A8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417320" y="539496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add / commit / push, puis vérifiez que pyproject.toml et uv.lock sont en ligne (pas .venv/).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21C0A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7889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Travaux pratiques en binôme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un projet data à deux, de A à Z, dans VS Code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418320" y="429768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56" y="4736592"/>
            <a:ext cx="658368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TP : le scénario en binôme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~1h30 · vous travaillez à deux sur un même dépôt, chacun son rôle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Pilote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crée le projet, héberge le dépôt, invite 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44768" y="155448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1828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17830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Copilote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clone, reconstruit l'environnement, collabore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27889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" y="30449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191256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81328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· (A) Projet + env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81328" y="3447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init, uv add pandas, premier script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15968" y="27889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44568" y="30449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3191256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30368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· (A) Script &amp; .gitignore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230368" y="3447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analyse.py + .gitignore (déjà prêt)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65008" y="27889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DCEA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93608" y="3044952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3191256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79408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· (A) Mise en ligne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979408" y="3447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commit, push, inviter B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66928" y="43891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95528" y="46451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79145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81328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· (B) Clone + reconstruit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481328" y="5047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315968" y="43891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44568" y="46451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791456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30368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· Collaborer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5230368" y="5047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push / pull à deux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8065008" y="438912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8FB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93608" y="4645152"/>
            <a:ext cx="566928" cy="566928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791456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79408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· Bonus : conflit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979408" y="5047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provoquer et résoudre dans VS Code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566928" y="6035040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0B2A4A"/>
          </a:solidFill>
          <a:ln/>
        </p:spPr>
      </p:sp>
      <p:sp>
        <p:nvSpPr>
          <p:cNvPr id="43" name="Text 35"/>
          <p:cNvSpPr/>
          <p:nvPr/>
        </p:nvSpPr>
        <p:spPr>
          <a:xfrm>
            <a:off x="868680" y="6053328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Règle d'or 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AVANT de travailler, push souvent. Et rappelez-vous : mêmes commandes sur GitHub et GitLab.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280160"/>
            <a:ext cx="3474720" cy="347472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L'essentiel à retenir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2395C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938528"/>
            <a:ext cx="457200" cy="45720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0482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8013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≠ GitHub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0" y="180136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versionne en local, GitHub héberge et partage.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27889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2395C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3035808"/>
            <a:ext cx="457200" cy="45720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314553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28986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 → commit → push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486400" y="289864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trio à retenir pour chaque changement.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22960" y="38862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2395C"/>
          </a:solidFill>
          <a:ln/>
        </p:spPr>
      </p:sp>
      <p:sp>
        <p:nvSpPr>
          <p:cNvPr id="16" name="Shape 12"/>
          <p:cNvSpPr/>
          <p:nvPr/>
        </p:nvSpPr>
        <p:spPr>
          <a:xfrm>
            <a:off x="1097280" y="4133088"/>
            <a:ext cx="457200" cy="45720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24281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39959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projet = 1 environnement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486400" y="399592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init, puis uv add — sans jamais l'activer.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822960" y="4983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2395C"/>
          </a:solidFill>
          <a:ln/>
        </p:spPr>
      </p:sp>
      <p:sp>
        <p:nvSpPr>
          <p:cNvPr id="21" name="Shape 16"/>
          <p:cNvSpPr/>
          <p:nvPr/>
        </p:nvSpPr>
        <p:spPr>
          <a:xfrm>
            <a:off x="1097280" y="5230368"/>
            <a:ext cx="457200" cy="45720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534009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50932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pyproject.toml + uv.lock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486400" y="50932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pour les créer, uv sync pour les restaurer.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4.2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Installer uv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Vérifier si uv est déjà installé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2996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Fonctionne dans n'importe quel terminal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--version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self update              # mettre à jour uv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macOS / Linux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5976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2996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 uv pour l'utilisateur courant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-LsSf https://astral.sh/uv/install.sh | sh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via Homebrew : brew install uv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Windows (PowerShell)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069080"/>
            <a:ext cx="11018520" cy="1783080"/>
          </a:xfrm>
          <a:prstGeom prst="roundRect">
            <a:avLst>
              <a:gd name="adj" fmla="val 3077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215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" y="4215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" y="4215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53128"/>
            <a:ext cx="10561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Ouvrir PowerShell, puis :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-c "irm https://astral.sh/uv/install.ps1 | iex"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 via Scoop : scoop install uv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4.5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structure d'un projet uv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BEFE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Ignoré par Git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.venv/  — recréé à tout moment par uv sync.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__pycache__/ et *.pyc  — fichiers compilés temporaires.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  — résultats régénérés par les scripts.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 — données sources, si volumineuses.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36208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AF7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8F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Versionné sur GitHub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 — métadonnées et dépendances du projet.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uv.lock  — versions exactes résolues, jamais éditées à la main.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.python-version et .gitignore  — générés par uv init.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et le code source du projet.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3.4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Travailler avec des branches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Créer et changer de branche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2996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Crée la branche ET bascule dessus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feature/ma-fonction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              # revenir sur main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Lister et supprimer une branche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65976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2996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Voir toutes les branches (locale = *)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feature/ma-fonction   # une fois fusionnée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Pousser la branche vers GitHub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069080"/>
            <a:ext cx="11018520" cy="1783080"/>
          </a:xfrm>
          <a:prstGeom prst="roundRect">
            <a:avLst>
              <a:gd name="adj" fmla="val 3077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2153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" y="42153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" y="42153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53128"/>
            <a:ext cx="10561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feature/ma-fonction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-u mémorise le lien, pour git push tout court ensuite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3.5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Fusionner une branche : le merge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BEFE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Fast-forward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n'a reçu aucun commit depuis la création de la branche.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déplace simplement le pointeur main vers le dernier commit.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nouveau commit créé : l'historique reste une ligne droite.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feature/ma-fonction   # depuis main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36208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AF7F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8F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Merge commit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 évolué en parallèle de la branche.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crée un commit spécial à deux parents pour réunir les deux historiques.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ici qu'un conflit peut apparaître si les mêmes lignes ont changé.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feature/ma-fonction   # peut demander une résolution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3.6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flux d'une Pull Request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21C0A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67665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71600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DCEAF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499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3716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une branche dédiée à votre fonctionnalité (git checkout -b).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76272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F2F8FB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3042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2176272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Commitez vos changements, puis poussez la branche (git push -u origin ...).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2980944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DCEAF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298094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GitHub, ouvrez une Pull Request de votre branche vers main.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66928" y="3785616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F2F8FB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913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378561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collègues relisent le code (review) et laissent des commentaires.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66928" y="4590288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DCEAF2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47183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417320" y="459028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besoin, ajustez : de nouveaux commits sur la branche mettent à jour la PR automatiquement.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66928" y="5394960"/>
            <a:ext cx="11018520" cy="713232"/>
          </a:xfrm>
          <a:prstGeom prst="roundRect">
            <a:avLst>
              <a:gd name="adj" fmla="val 8974"/>
            </a:avLst>
          </a:prstGeom>
          <a:solidFill>
            <a:srgbClr val="F2F8FB"/>
          </a:solidFill>
          <a:ln/>
        </p:spPr>
      </p:sp>
      <p:sp>
        <p:nvSpPr>
          <p:cNvPr id="26" name="Shape 23"/>
          <p:cNvSpPr/>
          <p:nvPr/>
        </p:nvSpPr>
        <p:spPr>
          <a:xfrm>
            <a:off x="777240" y="5522976"/>
            <a:ext cx="457200" cy="457200"/>
          </a:xfrm>
          <a:prstGeom prst="ellipse">
            <a:avLst/>
          </a:prstGeom>
          <a:solidFill>
            <a:srgbClr val="21C0A8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417320" y="539496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approuvée, mergez la PR sur GitHub, puis supprimez la branche.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C0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 xml:space="preserve">3.7  </a:t>
            </a:r>
            <a:pPr algn="l"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Résoudre un conflit de fusion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À quoi ressemble un conflit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29968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feature/ma-fonction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Auto-merging analyse.py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(content): Merge conflict in analyse.py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merge failed ; fix conflicts and commit.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 # voir les fichiers en conflit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marqueurs de conflit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57276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encadre les deux versions directement dans le fichier, à vous de choisir.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423160"/>
            <a:ext cx="4983480" cy="2148840"/>
          </a:xfrm>
          <a:prstGeom prst="roundRect">
            <a:avLst>
              <a:gd name="adj" fmla="val 2553"/>
            </a:avLst>
          </a:prstGeom>
          <a:solidFill>
            <a:srgbClr val="0E223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48272" y="256946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94576" y="256946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256946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807208"/>
            <a:ext cx="4526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moyenne(ventes):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ventes["montant"].mean()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moyenne_par_produit(v):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v.groupby("produit").mean()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feature/ma-fonction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DCEAF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Astuce : </a:t>
            </a:r>
            <a:pPr indent="0" marL="0">
              <a:buNone/>
            </a:pPr>
            <a:r>
              <a:rPr lang="en-US" sz="1450" dirty="0">
                <a:solidFill>
                  <a:srgbClr val="13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supprimez les lignes &lt;&lt;&lt;&lt;&lt;&lt;&lt; / ======= / &gt;&gt;&gt;&gt;&gt;&gt;&gt; et gardez le code voulu, puis git add + git commit. VS Code propose Accept Current / Incoming / Both pour aller plus vite.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Bonnes pratiques en Data Science</dc:title>
  <dc:subject>PptxGenJS Presentation</dc:subject>
  <dc:creator>Formation Data Science</dc:creator>
  <cp:lastModifiedBy>Formation Data Science</cp:lastModifiedBy>
  <cp:revision>1</cp:revision>
  <dcterms:created xsi:type="dcterms:W3CDTF">2026-06-23T20:41:49Z</dcterms:created>
  <dcterms:modified xsi:type="dcterms:W3CDTF">2026-06-23T20:41:49Z</dcterms:modified>
</cp:coreProperties>
</file>